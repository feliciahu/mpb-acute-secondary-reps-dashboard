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A8C"/>
    <a:srgbClr val="702C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9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lan, Kevin" userId="f93e0dc2-f4f4-435c-ba6c-9193d40f5673" providerId="ADAL" clId="{A2082B91-17C3-4FFA-B05A-82EB29C12651}"/>
    <pc:docChg chg="undo custSel delSld modSld">
      <pc:chgData name="Berlan, Kevin" userId="f93e0dc2-f4f4-435c-ba6c-9193d40f5673" providerId="ADAL" clId="{A2082B91-17C3-4FFA-B05A-82EB29C12651}" dt="2024-12-04T20:28:30.860" v="87" actId="47"/>
      <pc:docMkLst>
        <pc:docMk/>
      </pc:docMkLst>
      <pc:sldChg chg="del">
        <pc:chgData name="Berlan, Kevin" userId="f93e0dc2-f4f4-435c-ba6c-9193d40f5673" providerId="ADAL" clId="{A2082B91-17C3-4FFA-B05A-82EB29C12651}" dt="2024-12-04T20:28:30.860" v="87" actId="47"/>
        <pc:sldMkLst>
          <pc:docMk/>
          <pc:sldMk cId="4256394066" sldId="288"/>
        </pc:sldMkLst>
      </pc:sldChg>
      <pc:sldChg chg="addSp modSp mod">
        <pc:chgData name="Berlan, Kevin" userId="f93e0dc2-f4f4-435c-ba6c-9193d40f5673" providerId="ADAL" clId="{A2082B91-17C3-4FFA-B05A-82EB29C12651}" dt="2024-12-04T20:28:22.888" v="86" actId="1076"/>
        <pc:sldMkLst>
          <pc:docMk/>
          <pc:sldMk cId="3426813566" sldId="289"/>
        </pc:sldMkLst>
        <pc:spChg chg="mod">
          <ac:chgData name="Berlan, Kevin" userId="f93e0dc2-f4f4-435c-ba6c-9193d40f5673" providerId="ADAL" clId="{A2082B91-17C3-4FFA-B05A-82EB29C12651}" dt="2024-12-04T19:52:43.222" v="16" actId="20577"/>
          <ac:spMkLst>
            <pc:docMk/>
            <pc:sldMk cId="3426813566" sldId="289"/>
            <ac:spMk id="7" creationId="{50385E0B-033C-448D-BB7B-E9EE6B658816}"/>
          </ac:spMkLst>
        </pc:spChg>
        <pc:spChg chg="mod">
          <ac:chgData name="Berlan, Kevin" userId="f93e0dc2-f4f4-435c-ba6c-9193d40f5673" providerId="ADAL" clId="{A2082B91-17C3-4FFA-B05A-82EB29C12651}" dt="2024-12-04T20:28:13.774" v="84" actId="20577"/>
          <ac:spMkLst>
            <pc:docMk/>
            <pc:sldMk cId="3426813566" sldId="289"/>
            <ac:spMk id="35" creationId="{AA9EB873-9847-4CC3-A803-CB4C75744B1F}"/>
          </ac:spMkLst>
        </pc:spChg>
        <pc:picChg chg="add mod">
          <ac:chgData name="Berlan, Kevin" userId="f93e0dc2-f4f4-435c-ba6c-9193d40f5673" providerId="ADAL" clId="{A2082B91-17C3-4FFA-B05A-82EB29C12651}" dt="2024-12-04T20:28:22.888" v="86" actId="1076"/>
          <ac:picMkLst>
            <pc:docMk/>
            <pc:sldMk cId="3426813566" sldId="289"/>
            <ac:picMk id="3" creationId="{D0665499-A25D-73F4-7DEE-9A8A12D1B7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F405F-BACE-4976-90F1-7D13561CE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B5D19-25F2-4F1D-B25D-72497899C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F3FFC-7C15-47CF-A1D9-BB96D87F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BF5C-C086-4C10-9640-6C5AF84FD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7285D-E51C-4766-9AC5-2E64D539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7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F432B-4177-4ECB-97C5-9A9B3DB0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7EE2A-7B5D-4076-8495-E3A5072B8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36EB8-43BC-4C85-8D3B-6A17F3B4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4A98F-2A17-4B22-AD7F-14B52CF1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2BFA77-FF6F-42B2-BFCE-716C0CFDD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83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149A-73F7-4C3E-9E33-33AE6AEB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E0E602-3820-4357-B333-853813C1E4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4FD9D-387C-4B09-9FDD-41E41AD6F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A23E9-6166-49DC-AAB6-5F626E50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0C1D1-595B-4265-8296-3B567C088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0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D5F1-847C-4A5B-9954-C5FA04FF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E1504-AB2B-4C47-A05F-EEC72B8D4D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D9C61B-2CC8-459C-8E8C-39E7DBAF58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E40D4-C907-4955-B549-3BA0B65B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3BF91-C799-4A23-91E7-B42F013E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632EC4-B7B5-4D02-AE38-FC14FEB0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4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8E2C-6E72-424C-9478-7BF0792B6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328C2-6ADF-4824-AB79-80F2304FB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F0519B-BABF-48F3-9993-050EA5E16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609EA1-D781-47D0-8926-EC1446012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7D68B-94C0-4B77-BD18-947E9FF34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EDDD4-F165-427B-A14E-306F5176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39D98-A644-4A9B-B4AE-70E882C47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F2304B-6144-4C4D-A26A-DC49F55CB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266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3B24-47FB-42B2-A17A-D045EEBC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9F613D-66D4-4AA0-A169-C6D08885F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8FED9F-55FA-499B-91EC-A6E95425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EB6626-6EEA-4B7C-8DBB-0B7E2BF6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0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EDA568-5D72-4DFE-AE91-4CBB5A8D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51747-8831-456F-9D9B-391A0146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237DE-D3F0-42EB-BB65-E6BD05653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8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04B3-21C2-48CE-B41F-3ADAE680C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B4121-D632-4DBA-B634-819B752F8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1D3A9-6087-4D61-83F2-25A7F51CB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243D3-BF67-486D-8E6E-FB7000D2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70E16-EEBD-4965-BD7F-3CE1106A6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48CAC-0BCB-4F6A-9450-81DF3317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A29B-1B3D-4820-B0E6-E0B77708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CE72FD-4DD1-4583-8CF1-CA5CCBA6B6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29B7-8FC9-4B11-97FB-0E69691F9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D4E9C-ACBF-4FE7-A0FA-CF09D5E9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F9C9EF-3C75-4F26-A880-3A426BF54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0110-BA7E-40F6-B0FB-97C7BE4D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9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5CCA0-2084-4DD1-96DC-9DA4897C4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1621F-5BDE-4CD7-A8C6-77DE4F45C8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6DB5C-3B2D-4CA5-8FAD-7A7C32483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FE3C9-11A6-4AC1-86C8-FEE625B3B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5D0D2-1F0B-4C54-A970-8F2519C82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881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A801A5-2297-464D-B4F8-2475843989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42091-0AC6-484B-A892-4CAB5DD8B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C21A6-D65A-4779-952E-A3D237E30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4C92E-2479-4CB7-98BE-20C524F3A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033E9-1172-4A44-AB3C-6C92F9C3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580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McKesson Proprietary and Confidential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64D97-5126-42B4-979F-10E2B637584F}" type="datetime1">
              <a:rPr lang="en-US" smtClean="0"/>
              <a:t>3/24/2025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971C27-C87E-45F4-8EEB-007BFB32C2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57188" y="1795463"/>
            <a:ext cx="11483975" cy="3966359"/>
          </a:xfrm>
          <a:prstGeom prst="rect">
            <a:avLst/>
          </a:prstGeom>
        </p:spPr>
        <p:txBody>
          <a:bodyPr/>
          <a:lstStyle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ubhead"/>
          <p:cNvSpPr>
            <a:spLocks noGrp="1"/>
          </p:cNvSpPr>
          <p:nvPr>
            <p:ph type="body" sz="quarter" idx="14"/>
          </p:nvPr>
        </p:nvSpPr>
        <p:spPr>
          <a:xfrm>
            <a:off x="357188" y="895350"/>
            <a:ext cx="11483975" cy="514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1101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F8BB8-7CC2-402D-A18A-F51A19404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6B18B-EB0E-45D0-811B-74BD5095A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4808D-1CE5-44DC-9DB3-FFAFC47AC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F8C8C-3CB8-4B26-9475-BD1AA03E44C0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09C2D-0C6E-467F-A049-44019E332E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BC4CD-D9FA-48E4-BCCB-2969D0D4E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30A7BC-AA13-40CA-BA5B-F6C27BB5A6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7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ubtitle 2">
            <a:extLst>
              <a:ext uri="{FF2B5EF4-FFF2-40B4-BE49-F238E27FC236}">
                <a16:creationId xmlns:a16="http://schemas.microsoft.com/office/drawing/2014/main" id="{AA9EB873-9847-4CC3-A803-CB4C75744B1F}"/>
              </a:ext>
            </a:extLst>
          </p:cNvPr>
          <p:cNvSpPr txBox="1">
            <a:spLocks/>
          </p:cNvSpPr>
          <p:nvPr/>
        </p:nvSpPr>
        <p:spPr>
          <a:xfrm>
            <a:off x="386072" y="1196240"/>
            <a:ext cx="10850679" cy="5458260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defTabSz="543818">
              <a:lnSpc>
                <a:spcPts val="1850"/>
              </a:lnSpc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Objective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Dashboard compares targets to FY25 performance for base MPB customers managed by Secondary Sales Reps to observe if there is growth    	within existing territories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 defTabSz="543818">
              <a:lnSpc>
                <a:spcPts val="1850"/>
              </a:lnSpc>
            </a:pPr>
            <a:endParaRPr lang="en-US" sz="14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 defTabSz="543818">
              <a:lnSpc>
                <a:spcPts val="1850"/>
              </a:lnSpc>
            </a:pPr>
            <a:endParaRPr lang="en-US" sz="1400" dirty="0">
              <a:solidFill>
                <a:schemeClr val="tx1"/>
              </a:solidFill>
              <a:latin typeface="+mn-lt"/>
              <a:ea typeface="Lato Light" panose="020F0502020204030203" pitchFamily="34" charset="0"/>
              <a:cs typeface="Mukta ExtraLight" panose="020B0000000000000000" pitchFamily="34" charset="77"/>
            </a:endParaRPr>
          </a:p>
          <a:p>
            <a:pPr algn="l" defTabSz="543818">
              <a:lnSpc>
                <a:spcPts val="1850"/>
              </a:lnSpc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Metrics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FY25 Targets: Monthly average of Net Sales/Gross Profit actuals during the second half of FY24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FY25 Actuals: Net Sales refreshes daily; finalized Gross Profit become available around 25th of the next month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FYTD Summary: Net Sales/Gross Profit includes actuals from April 2024 through the most recent completed month 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Ranking: sort by delta (actuals – targets)</a:t>
            </a:r>
          </a:p>
          <a:p>
            <a:pPr algn="l" defTabSz="543818">
              <a:lnSpc>
                <a:spcPts val="1850"/>
              </a:lnSpc>
            </a:pPr>
            <a:r>
              <a:rPr lang="en-US" sz="1400" b="1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Data Source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Refreshes Daily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Source is COPA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        SFDC opportunities are </a:t>
            </a:r>
            <a:r>
              <a:rPr lang="en-US" sz="1400" u="sng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not</a:t>
            </a: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tied to tracking of actuals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         New Product Launch Drugs from FY24 onwards, Exclusive Drugs and Contract Pharmacies excluded</a:t>
            </a:r>
          </a:p>
          <a:p>
            <a:pPr marL="171450" indent="-171450" algn="l" defTabSz="543818">
              <a:lnSpc>
                <a:spcPts val="18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Lato Light" panose="020F0502020204030203" pitchFamily="34" charset="0"/>
                <a:cs typeface="Mukta ExtraLight" panose="020B0000000000000000" pitchFamily="34" charset="77"/>
              </a:rPr>
              <a:t>	Dropped the Common Entities switched from Primary to Secondary Sales Reps since 2H FY25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0385E0B-033C-448D-BB7B-E9EE6B65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838" y="368673"/>
            <a:ext cx="11522698" cy="492825"/>
          </a:xfrm>
        </p:spPr>
        <p:txBody>
          <a:bodyPr>
            <a:noAutofit/>
          </a:bodyPr>
          <a:lstStyle/>
          <a:p>
            <a:r>
              <a:rPr lang="en-US" sz="3600" dirty="0">
                <a:latin typeface="Libre Franklin Light" pitchFamily="2" charset="0"/>
              </a:rPr>
              <a:t> </a:t>
            </a:r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Libre Franklin Light" pitchFamily="2" charset="0"/>
              </a:rPr>
              <a:t>MPB Acute Secondary Dashboard | Reference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665499-A25D-73F4-7DEE-9A8A12D1B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694" y="1749410"/>
            <a:ext cx="4968612" cy="196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1356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dfbd6cd6-3262-48dc-8011-f5abeb79275f}" enabled="1" method="Standard" siteId="{da67ef1b-ca59-4db2-9a8c-aa8d94617a1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13977</TotalTime>
  <Words>155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Libre Franklin Light</vt:lpstr>
      <vt:lpstr>Office Theme</vt:lpstr>
      <vt:lpstr> MPB Acute Secondary Dashboard | Reference Info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Berlan, Kevin</dc:creator>
  <cp:lastModifiedBy>Hu, Felicia</cp:lastModifiedBy>
  <cp:revision>29</cp:revision>
  <dcterms:created xsi:type="dcterms:W3CDTF">2023-05-16T21:07:08Z</dcterms:created>
  <dcterms:modified xsi:type="dcterms:W3CDTF">2025-03-24T17:10:28Z</dcterms:modified>
</cp:coreProperties>
</file>